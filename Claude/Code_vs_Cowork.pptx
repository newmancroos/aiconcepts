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5052059"/>
            <a:ext cx="9144000" cy="91441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384047" y="238252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D97757"/>
                </a:solidFill>
              </a:defRPr>
            </a:lvl1pPr>
          </a:lstStyle>
          <a:p>
            <a:pPr/>
            <a:r>
              <a:t>CLAUDE CODE VS CLAUDE COWORK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84047" y="459111"/>
            <a:ext cx="7772401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Same Claude engine. Two entry points.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384047" y="975282"/>
            <a:ext cx="7772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A1A1AA"/>
                </a:solidFill>
              </a:defRPr>
            </a:lvl1pPr>
          </a:lstStyle>
          <a:p>
            <a:pPr/>
            <a:r>
              <a:t>One is built for developers. One is built for everyone else.</a:t>
            </a:r>
          </a:p>
        </p:txBody>
      </p:sp>
      <p:sp>
        <p:nvSpPr>
          <p:cNvPr id="25" name="Shape 5"/>
          <p:cNvSpPr/>
          <p:nvPr/>
        </p:nvSpPr>
        <p:spPr>
          <a:xfrm>
            <a:off x="347471" y="1298447"/>
            <a:ext cx="3986786" cy="2926081"/>
          </a:xfrm>
          <a:prstGeom prst="rect">
            <a:avLst/>
          </a:prstGeom>
          <a:solidFill>
            <a:srgbClr val="141418"/>
          </a:solidFill>
          <a:ln w="12700">
            <a:miter lim="400000"/>
          </a:ln>
          <a:effectLst>
            <a:outerShdw sx="100000" sy="100000" kx="0" ky="0" algn="b" rotWithShape="0" blurRad="1270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347471" y="1298447"/>
            <a:ext cx="3986786" cy="75085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347472" y="1298447"/>
            <a:ext cx="64009" cy="292608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512063" y="1426463"/>
            <a:ext cx="1243585" cy="237744"/>
          </a:xfrm>
          <a:prstGeom prst="rect">
            <a:avLst/>
          </a:prstGeom>
          <a:solidFill>
            <a:srgbClr val="0A1628"/>
          </a:solidFill>
          <a:ln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512063" y="1481835"/>
            <a:ext cx="12435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50" sz="600">
                <a:solidFill>
                  <a:srgbClr val="3B82F6"/>
                </a:solidFill>
              </a:defRPr>
            </a:lvl1pPr>
          </a:lstStyle>
          <a:p>
            <a:pPr/>
            <a:r>
              <a:t>FOR DEVELOPERS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512063" y="1800704"/>
            <a:ext cx="3730754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Claude Code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512063" y="2286929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52525B"/>
                </a:solidFill>
              </a:defRPr>
            </a:lvl1pPr>
          </a:lstStyle>
          <a:p>
            <a:pPr/>
            <a:r>
              <a:t>A coding agent in your terminal. Builds, runs, and deploys software with full codebase and system access.</a:t>
            </a:r>
          </a:p>
        </p:txBody>
      </p:sp>
      <p:sp>
        <p:nvSpPr>
          <p:cNvPr id="32" name="Shape 12"/>
          <p:cNvSpPr/>
          <p:nvPr/>
        </p:nvSpPr>
        <p:spPr>
          <a:xfrm>
            <a:off x="512063" y="2651760"/>
            <a:ext cx="3730754" cy="18289"/>
          </a:xfrm>
          <a:prstGeom prst="rect">
            <a:avLst/>
          </a:prstGeom>
          <a:solidFill>
            <a:srgbClr val="2525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512063" y="2807207"/>
            <a:ext cx="91441" cy="91441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685799" y="2775248"/>
            <a:ext cx="355701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/>
            <a:r>
              <a:t>Executes code, builds and deploys software</a:t>
            </a:r>
          </a:p>
        </p:txBody>
      </p:sp>
      <p:sp>
        <p:nvSpPr>
          <p:cNvPr id="35" name="Shape 15"/>
          <p:cNvSpPr/>
          <p:nvPr/>
        </p:nvSpPr>
        <p:spPr>
          <a:xfrm>
            <a:off x="512063" y="3081527"/>
            <a:ext cx="91441" cy="91441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6"/>
          <p:cNvSpPr txBox="1"/>
          <p:nvPr/>
        </p:nvSpPr>
        <p:spPr>
          <a:xfrm>
            <a:off x="685799" y="3049568"/>
            <a:ext cx="355701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/>
            <a:r>
              <a:t>Full codebase, git, and terminal access</a:t>
            </a:r>
          </a:p>
        </p:txBody>
      </p:sp>
      <p:sp>
        <p:nvSpPr>
          <p:cNvPr id="37" name="Shape 17"/>
          <p:cNvSpPr/>
          <p:nvPr/>
        </p:nvSpPr>
        <p:spPr>
          <a:xfrm>
            <a:off x="512063" y="3355847"/>
            <a:ext cx="91441" cy="91441"/>
          </a:xfrm>
          <a:prstGeom prst="rect">
            <a:avLst/>
          </a:prstGeom>
          <a:solidFill>
            <a:srgbClr val="7F303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8"/>
          <p:cNvSpPr txBox="1"/>
          <p:nvPr/>
        </p:nvSpPr>
        <p:spPr>
          <a:xfrm>
            <a:off x="685799" y="3323888"/>
            <a:ext cx="355701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2525B"/>
                </a:solidFill>
              </a:defRPr>
            </a:lvl1pPr>
          </a:lstStyle>
          <a:p>
            <a:pPr/>
            <a:r>
              <a:t>Requires developer &amp; terminal knowledge</a:t>
            </a:r>
          </a:p>
        </p:txBody>
      </p:sp>
      <p:sp>
        <p:nvSpPr>
          <p:cNvPr id="39" name="Shape 19"/>
          <p:cNvSpPr/>
          <p:nvPr/>
        </p:nvSpPr>
        <p:spPr>
          <a:xfrm>
            <a:off x="512063" y="3630167"/>
            <a:ext cx="91441" cy="91441"/>
          </a:xfrm>
          <a:prstGeom prst="rect">
            <a:avLst/>
          </a:prstGeom>
          <a:solidFill>
            <a:srgbClr val="7F303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20"/>
          <p:cNvSpPr txBox="1"/>
          <p:nvPr/>
        </p:nvSpPr>
        <p:spPr>
          <a:xfrm>
            <a:off x="685799" y="3598207"/>
            <a:ext cx="355701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2525B"/>
                </a:solidFill>
              </a:defRPr>
            </a:lvl1pPr>
          </a:lstStyle>
          <a:p>
            <a:pPr/>
            <a:r>
              <a:t>Most non-developers never try it</a:t>
            </a:r>
          </a:p>
        </p:txBody>
      </p:sp>
      <p:sp>
        <p:nvSpPr>
          <p:cNvPr id="41" name="Shape 21"/>
          <p:cNvSpPr/>
          <p:nvPr/>
        </p:nvSpPr>
        <p:spPr>
          <a:xfrm>
            <a:off x="512063" y="3931920"/>
            <a:ext cx="3730754" cy="237744"/>
          </a:xfrm>
          <a:prstGeom prst="rect">
            <a:avLst/>
          </a:prstGeom>
          <a:solidFill>
            <a:srgbClr val="080E1C"/>
          </a:solidFill>
          <a:ln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2"/>
          <p:cNvSpPr txBox="1"/>
          <p:nvPr/>
        </p:nvSpPr>
        <p:spPr>
          <a:xfrm>
            <a:off x="512063" y="3987291"/>
            <a:ext cx="37307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3B82F6"/>
                </a:solidFill>
              </a:defRPr>
            </a:lvl1pPr>
          </a:lstStyle>
          <a:p>
            <a:pPr/>
            <a:r>
              <a:t>Powerful — but developer-only</a:t>
            </a:r>
          </a:p>
        </p:txBody>
      </p:sp>
      <p:sp>
        <p:nvSpPr>
          <p:cNvPr id="43" name="Shape 23"/>
          <p:cNvSpPr/>
          <p:nvPr/>
        </p:nvSpPr>
        <p:spPr>
          <a:xfrm>
            <a:off x="4773167" y="1261872"/>
            <a:ext cx="4059937" cy="2999233"/>
          </a:xfrm>
          <a:prstGeom prst="rect">
            <a:avLst/>
          </a:prstGeom>
          <a:solidFill>
            <a:srgbClr val="2A1A10"/>
          </a:solidFill>
          <a:ln w="12700">
            <a:miter lim="400000"/>
          </a:ln>
          <a:effectLst>
            <a:outerShdw sx="100000" sy="100000" kx="0" ky="0" algn="b" rotWithShape="0" blurRad="381000" dist="50800" dir="8100000">
              <a:srgbClr val="D97757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Shape 24"/>
          <p:cNvSpPr/>
          <p:nvPr/>
        </p:nvSpPr>
        <p:spPr>
          <a:xfrm>
            <a:off x="4809744" y="1298447"/>
            <a:ext cx="3986785" cy="2926081"/>
          </a:xfrm>
          <a:prstGeom prst="rect">
            <a:avLst/>
          </a:prstGeom>
          <a:solidFill>
            <a:srgbClr val="18181B"/>
          </a:solidFill>
          <a:ln w="12700">
            <a:miter lim="400000"/>
          </a:ln>
          <a:effectLst>
            <a:outerShdw sx="100000" sy="100000" kx="0" ky="0" algn="b" rotWithShape="0" blurRad="203200" dist="50800" dir="81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4809744" y="1298447"/>
            <a:ext cx="3986785" cy="75085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26"/>
          <p:cNvSpPr/>
          <p:nvPr/>
        </p:nvSpPr>
        <p:spPr>
          <a:xfrm>
            <a:off x="4809744" y="1298447"/>
            <a:ext cx="73153" cy="2926081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27"/>
          <p:cNvSpPr/>
          <p:nvPr/>
        </p:nvSpPr>
        <p:spPr>
          <a:xfrm>
            <a:off x="4974335" y="1426463"/>
            <a:ext cx="1133857" cy="237744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28"/>
          <p:cNvSpPr txBox="1"/>
          <p:nvPr/>
        </p:nvSpPr>
        <p:spPr>
          <a:xfrm>
            <a:off x="4974335" y="1481835"/>
            <a:ext cx="1133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50" sz="600">
                <a:solidFill>
                  <a:srgbClr val="0C0C0E"/>
                </a:solidFill>
              </a:defRPr>
            </a:lvl1pPr>
          </a:lstStyle>
          <a:p>
            <a:pPr/>
            <a:r>
              <a:t>FOR EVERYONE</a:t>
            </a:r>
          </a:p>
        </p:txBody>
      </p:sp>
      <p:sp>
        <p:nvSpPr>
          <p:cNvPr id="49" name="Text 29"/>
          <p:cNvSpPr txBox="1"/>
          <p:nvPr/>
        </p:nvSpPr>
        <p:spPr>
          <a:xfrm>
            <a:off x="4974335" y="1800704"/>
            <a:ext cx="3730754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Claude Cowork</a:t>
            </a:r>
          </a:p>
        </p:txBody>
      </p:sp>
      <p:sp>
        <p:nvSpPr>
          <p:cNvPr id="50" name="Text 30"/>
          <p:cNvSpPr txBox="1"/>
          <p:nvPr/>
        </p:nvSpPr>
        <p:spPr>
          <a:xfrm>
            <a:off x="4974335" y="2286929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A1A1AA"/>
                </a:solidFill>
              </a:defRPr>
            </a:lvl1pPr>
          </a:lstStyle>
          <a:p>
            <a:pPr/>
            <a:r>
              <a:t>Your AI desktop co-worker. Manages files, writes reports, does research, and automates workflows — in plain English.</a:t>
            </a:r>
          </a:p>
        </p:txBody>
      </p:sp>
      <p:sp>
        <p:nvSpPr>
          <p:cNvPr id="51" name="Shape 31"/>
          <p:cNvSpPr/>
          <p:nvPr/>
        </p:nvSpPr>
        <p:spPr>
          <a:xfrm>
            <a:off x="4974335" y="2651760"/>
            <a:ext cx="3730754" cy="18289"/>
          </a:xfrm>
          <a:prstGeom prst="rect">
            <a:avLst/>
          </a:prstGeom>
          <a:solidFill>
            <a:srgbClr val="3A2A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32"/>
          <p:cNvSpPr/>
          <p:nvPr/>
        </p:nvSpPr>
        <p:spPr>
          <a:xfrm>
            <a:off x="4974335" y="2807207"/>
            <a:ext cx="91441" cy="91441"/>
          </a:xfrm>
          <a:prstGeom prst="ellipse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33"/>
          <p:cNvSpPr txBox="1"/>
          <p:nvPr/>
        </p:nvSpPr>
        <p:spPr>
          <a:xfrm>
            <a:off x="5148071" y="2775248"/>
            <a:ext cx="355701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Lives on your actual desktop</a:t>
            </a:r>
          </a:p>
        </p:txBody>
      </p:sp>
      <p:sp>
        <p:nvSpPr>
          <p:cNvPr id="54" name="Shape 34"/>
          <p:cNvSpPr/>
          <p:nvPr/>
        </p:nvSpPr>
        <p:spPr>
          <a:xfrm>
            <a:off x="4974335" y="3081527"/>
            <a:ext cx="91441" cy="91441"/>
          </a:xfrm>
          <a:prstGeom prst="ellipse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35"/>
          <p:cNvSpPr txBox="1"/>
          <p:nvPr/>
        </p:nvSpPr>
        <p:spPr>
          <a:xfrm>
            <a:off x="5148071" y="3049568"/>
            <a:ext cx="355701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Plain English — no commands needed</a:t>
            </a:r>
          </a:p>
        </p:txBody>
      </p:sp>
      <p:sp>
        <p:nvSpPr>
          <p:cNvPr id="56" name="Shape 36"/>
          <p:cNvSpPr/>
          <p:nvPr/>
        </p:nvSpPr>
        <p:spPr>
          <a:xfrm>
            <a:off x="4974335" y="3355847"/>
            <a:ext cx="91441" cy="91441"/>
          </a:xfrm>
          <a:prstGeom prst="ellipse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7"/>
          <p:cNvSpPr txBox="1"/>
          <p:nvPr/>
        </p:nvSpPr>
        <p:spPr>
          <a:xfrm>
            <a:off x="5148071" y="3323888"/>
            <a:ext cx="355701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Zero technical knowledge required</a:t>
            </a:r>
          </a:p>
        </p:txBody>
      </p:sp>
      <p:sp>
        <p:nvSpPr>
          <p:cNvPr id="58" name="Shape 38"/>
          <p:cNvSpPr/>
          <p:nvPr/>
        </p:nvSpPr>
        <p:spPr>
          <a:xfrm>
            <a:off x="4974335" y="3630167"/>
            <a:ext cx="91441" cy="91441"/>
          </a:xfrm>
          <a:prstGeom prst="ellipse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9"/>
          <p:cNvSpPr txBox="1"/>
          <p:nvPr/>
        </p:nvSpPr>
        <p:spPr>
          <a:xfrm>
            <a:off x="5148071" y="3598207"/>
            <a:ext cx="355701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Available to anyone with Claude</a:t>
            </a:r>
          </a:p>
        </p:txBody>
      </p:sp>
      <p:sp>
        <p:nvSpPr>
          <p:cNvPr id="60" name="Shape 40"/>
          <p:cNvSpPr/>
          <p:nvPr/>
        </p:nvSpPr>
        <p:spPr>
          <a:xfrm>
            <a:off x="4974335" y="3931920"/>
            <a:ext cx="3730754" cy="237744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41"/>
          <p:cNvSpPr txBox="1"/>
          <p:nvPr/>
        </p:nvSpPr>
        <p:spPr>
          <a:xfrm>
            <a:off x="4974335" y="3987291"/>
            <a:ext cx="37307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C0C0E"/>
                </a:solidFill>
              </a:defRPr>
            </a:lvl1pPr>
          </a:lstStyle>
          <a:p>
            <a:pPr/>
            <a:r>
              <a:t>Plain language → instant action</a:t>
            </a:r>
          </a:p>
        </p:txBody>
      </p:sp>
      <p:sp>
        <p:nvSpPr>
          <p:cNvPr id="62" name="Shape 42"/>
          <p:cNvSpPr/>
          <p:nvPr/>
        </p:nvSpPr>
        <p:spPr>
          <a:xfrm>
            <a:off x="4352544" y="2542032"/>
            <a:ext cx="438912" cy="438913"/>
          </a:xfrm>
          <a:prstGeom prst="ellipse">
            <a:avLst/>
          </a:prstGeom>
          <a:solidFill>
            <a:srgbClr val="0A0909"/>
          </a:solidFill>
          <a:ln w="1905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43"/>
          <p:cNvSpPr txBox="1"/>
          <p:nvPr/>
        </p:nvSpPr>
        <p:spPr>
          <a:xfrm>
            <a:off x="4352544" y="2683055"/>
            <a:ext cx="43891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D97757"/>
                </a:solidFill>
              </a:defRPr>
            </a:lvl1pPr>
          </a:lstStyle>
          <a:p>
            <a:pPr/>
            <a:r>
              <a:t>VS</a:t>
            </a:r>
          </a:p>
        </p:txBody>
      </p:sp>
      <p:sp>
        <p:nvSpPr>
          <p:cNvPr id="64" name="Shape 44"/>
          <p:cNvSpPr/>
          <p:nvPr/>
        </p:nvSpPr>
        <p:spPr>
          <a:xfrm>
            <a:off x="347471" y="4334255"/>
            <a:ext cx="8449058" cy="548641"/>
          </a:xfrm>
          <a:prstGeom prst="rect">
            <a:avLst/>
          </a:prstGeom>
          <a:solidFill>
            <a:srgbClr val="111115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45"/>
          <p:cNvSpPr/>
          <p:nvPr/>
        </p:nvSpPr>
        <p:spPr>
          <a:xfrm>
            <a:off x="347472" y="4334255"/>
            <a:ext cx="64009" cy="548641"/>
          </a:xfrm>
          <a:prstGeom prst="rect">
            <a:avLst/>
          </a:prstGeom>
          <a:solidFill>
            <a:srgbClr val="D977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46"/>
          <p:cNvSpPr txBox="1"/>
          <p:nvPr/>
        </p:nvSpPr>
        <p:spPr>
          <a:xfrm>
            <a:off x="530351" y="4429559"/>
            <a:ext cx="8229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3B82F6"/>
                </a:solidFill>
              </a:defRPr>
            </a:pPr>
            <a:r>
              <a:t>Claude Code </a:t>
            </a:r>
            <a:r>
              <a:rPr b="0">
                <a:solidFill>
                  <a:srgbClr val="52525B"/>
                </a:solidFill>
              </a:rPr>
              <a:t>unlocks Claude for developers.  </a:t>
            </a:r>
            <a:r>
              <a:rPr>
                <a:solidFill>
                  <a:srgbClr val="D97757"/>
                </a:solidFill>
              </a:rPr>
              <a:t>Cowork </a:t>
            </a:r>
            <a:r>
              <a:rPr b="0">
                <a:solidFill>
                  <a:srgbClr val="A1A1AA"/>
                </a:solidFill>
              </a:rPr>
              <a:t>unlocks Claude for </a:t>
            </a:r>
            <a:r>
              <a:rPr>
                <a:solidFill>
                  <a:srgbClr val="FFFFFF"/>
                </a:solidFill>
              </a:rPr>
              <a:t>everyone</a:t>
            </a:r>
            <a:r>
              <a:rPr b="0">
                <a:solidFill>
                  <a:srgbClr val="A1A1AA"/>
                </a:solidFill>
              </a:rPr>
              <a:t> — no terminal, no code, no setup.</a:t>
            </a:r>
          </a:p>
        </p:txBody>
      </p:sp>
      <p:sp>
        <p:nvSpPr>
          <p:cNvPr id="67" name="Text 47"/>
          <p:cNvSpPr txBox="1"/>
          <p:nvPr/>
        </p:nvSpPr>
        <p:spPr>
          <a:xfrm>
            <a:off x="530351" y="466394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52525B"/>
                </a:solidFill>
              </a:defRPr>
            </a:lvl1pPr>
          </a:lstStyle>
          <a:p>
            <a:pPr/>
            <a:r>
              <a:t>Both are built on the same Claude AI. The only difference is who gets to use them — and how.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