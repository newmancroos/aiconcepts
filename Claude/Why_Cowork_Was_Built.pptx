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69056"/>
            <a:ext cx="8229600" cy="1131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C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" name="Shape 1"/>
          <p:cNvSpPr/>
          <p:nvPr/>
        </p:nvSpPr>
        <p:spPr>
          <a:xfrm>
            <a:off x="0" y="5052059"/>
            <a:ext cx="9144000" cy="91441"/>
          </a:xfrm>
          <a:prstGeom prst="rect">
            <a:avLst/>
          </a:prstGeom>
          <a:solidFill>
            <a:srgbClr val="18181B"/>
          </a:solidFill>
          <a:ln w="12700">
            <a:solidFill>
              <a:srgbClr val="18181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" name="Text 2"/>
          <p:cNvSpPr txBox="1"/>
          <p:nvPr/>
        </p:nvSpPr>
        <p:spPr>
          <a:xfrm>
            <a:off x="393191" y="5004720"/>
            <a:ext cx="8357618" cy="1861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A1A1AA"/>
                </a:solidFill>
              </a:defRPr>
            </a:lvl1pPr>
          </a:lstStyle>
          <a:p>
            <a:pPr/>
            <a:r>
              <a:t>Cowork is not a dumbed-down Claude Code — it is the same execution power, built for the people who needed it first</a:t>
            </a:r>
          </a:p>
        </p:txBody>
      </p:sp>
      <p:sp>
        <p:nvSpPr>
          <p:cNvPr id="23" name="Text 3"/>
          <p:cNvSpPr txBox="1"/>
          <p:nvPr/>
        </p:nvSpPr>
        <p:spPr>
          <a:xfrm>
            <a:off x="393192" y="94015"/>
            <a:ext cx="7040879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800">
                <a:solidFill>
                  <a:srgbClr val="52525B"/>
                </a:solidFill>
              </a:defRPr>
            </a:lvl1pPr>
          </a:lstStyle>
          <a:p>
            <a:pPr/>
            <a:r>
              <a:t>COWORK  SECTION  ·  WHY COWORK WAS BUILT</a:t>
            </a:r>
          </a:p>
        </p:txBody>
      </p:sp>
      <p:sp>
        <p:nvSpPr>
          <p:cNvPr id="24" name="Shape 4"/>
          <p:cNvSpPr/>
          <p:nvPr/>
        </p:nvSpPr>
        <p:spPr>
          <a:xfrm>
            <a:off x="7479792" y="82296"/>
            <a:ext cx="1316737" cy="237744"/>
          </a:xfrm>
          <a:prstGeom prst="roundRect">
            <a:avLst>
              <a:gd name="adj" fmla="val 30769"/>
            </a:avLst>
          </a:prstGeom>
          <a:solidFill>
            <a:srgbClr val="18181B"/>
          </a:solidFill>
          <a:ln w="19050">
            <a:solidFill>
              <a:srgbClr val="D9775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" name="Text 5"/>
          <p:cNvSpPr txBox="1"/>
          <p:nvPr/>
        </p:nvSpPr>
        <p:spPr>
          <a:xfrm>
            <a:off x="7525511" y="98210"/>
            <a:ext cx="1225298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900">
                <a:solidFill>
                  <a:srgbClr val="D97757"/>
                </a:solidFill>
              </a:defRPr>
            </a:lvl1pPr>
          </a:lstStyle>
          <a:p>
            <a:pPr/>
            <a:r>
              <a:t>ORIGIN STORY</a:t>
            </a:r>
          </a:p>
        </p:txBody>
      </p:sp>
      <p:sp>
        <p:nvSpPr>
          <p:cNvPr id="26" name="Text 6"/>
          <p:cNvSpPr txBox="1"/>
          <p:nvPr/>
        </p:nvSpPr>
        <p:spPr>
          <a:xfrm>
            <a:off x="393191" y="336692"/>
            <a:ext cx="8357618" cy="4970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b="1" sz="3200">
                <a:solidFill>
                  <a:srgbClr val="FFFFFF"/>
                </a:solidFill>
              </a:defRPr>
            </a:pPr>
            <a:r>
              <a:t>Why </a:t>
            </a:r>
            <a:r>
              <a:rPr>
                <a:solidFill>
                  <a:srgbClr val="D97757"/>
                </a:solidFill>
              </a:rPr>
              <a:t>Cowork </a:t>
            </a:r>
            <a:r>
              <a:t>Was Built</a:t>
            </a:r>
          </a:p>
        </p:txBody>
      </p:sp>
      <p:sp>
        <p:nvSpPr>
          <p:cNvPr id="27" name="Text 7"/>
          <p:cNvSpPr txBox="1"/>
          <p:nvPr/>
        </p:nvSpPr>
        <p:spPr>
          <a:xfrm>
            <a:off x="393191" y="838122"/>
            <a:ext cx="8357618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1100">
                <a:solidFill>
                  <a:srgbClr val="A1A1AA"/>
                </a:solidFill>
              </a:defRPr>
            </a:lvl1pPr>
          </a:lstStyle>
          <a:p>
            <a:pPr/>
            <a:r>
              <a:t>It started with engineers doing strange things in the terminal — and everyone else watching from the outside.</a:t>
            </a:r>
          </a:p>
        </p:txBody>
      </p:sp>
      <p:sp>
        <p:nvSpPr>
          <p:cNvPr id="28" name="Shape 8"/>
          <p:cNvSpPr/>
          <p:nvPr/>
        </p:nvSpPr>
        <p:spPr>
          <a:xfrm>
            <a:off x="347471" y="1097280"/>
            <a:ext cx="8449058" cy="22861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" name="Shape 9"/>
          <p:cNvSpPr/>
          <p:nvPr/>
        </p:nvSpPr>
        <p:spPr>
          <a:xfrm>
            <a:off x="347472" y="1170432"/>
            <a:ext cx="2596896" cy="2907793"/>
          </a:xfrm>
          <a:prstGeom prst="rect">
            <a:avLst/>
          </a:prstGeom>
          <a:solidFill>
            <a:srgbClr val="18181B"/>
          </a:solidFill>
          <a:ln w="6350">
            <a:solidFill>
              <a:srgbClr val="35353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" name="Shape 10"/>
          <p:cNvSpPr/>
          <p:nvPr/>
        </p:nvSpPr>
        <p:spPr>
          <a:xfrm>
            <a:off x="347472" y="1170432"/>
            <a:ext cx="2596896" cy="54865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" name="Text 11"/>
          <p:cNvSpPr txBox="1"/>
          <p:nvPr/>
        </p:nvSpPr>
        <p:spPr>
          <a:xfrm>
            <a:off x="521207" y="1282735"/>
            <a:ext cx="2249426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800">
                <a:solidFill>
                  <a:srgbClr val="D97757"/>
                </a:solidFill>
              </a:defRPr>
            </a:lvl1pPr>
          </a:lstStyle>
          <a:p>
            <a:pPr/>
            <a:r>
              <a:t>ACT 01</a:t>
            </a:r>
          </a:p>
        </p:txBody>
      </p:sp>
      <p:sp>
        <p:nvSpPr>
          <p:cNvPr id="32" name="Text 12"/>
          <p:cNvSpPr txBox="1"/>
          <p:nvPr/>
        </p:nvSpPr>
        <p:spPr>
          <a:xfrm>
            <a:off x="521207" y="1523808"/>
            <a:ext cx="2249426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Developers Got Superpowers</a:t>
            </a:r>
          </a:p>
        </p:txBody>
      </p:sp>
      <p:sp>
        <p:nvSpPr>
          <p:cNvPr id="33" name="Shape 13"/>
          <p:cNvSpPr/>
          <p:nvPr/>
        </p:nvSpPr>
        <p:spPr>
          <a:xfrm>
            <a:off x="475487" y="1892807"/>
            <a:ext cx="2340866" cy="13717"/>
          </a:xfrm>
          <a:prstGeom prst="rect">
            <a:avLst/>
          </a:prstGeom>
          <a:solidFill>
            <a:srgbClr val="35353F"/>
          </a:solidFill>
          <a:ln w="12700">
            <a:solidFill>
              <a:srgbClr val="35353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4" name="Text 14"/>
          <p:cNvSpPr txBox="1"/>
          <p:nvPr/>
        </p:nvSpPr>
        <p:spPr>
          <a:xfrm>
            <a:off x="521207" y="1913671"/>
            <a:ext cx="2249426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800">
                <a:solidFill>
                  <a:srgbClr val="D97757"/>
                </a:solidFill>
              </a:defRPr>
            </a:lvl1pPr>
          </a:lstStyle>
          <a:p>
            <a:pPr/>
            <a:r>
              <a:t>Claude Code launched</a:t>
            </a:r>
          </a:p>
        </p:txBody>
      </p:sp>
      <p:sp>
        <p:nvSpPr>
          <p:cNvPr id="35" name="Text 15"/>
          <p:cNvSpPr txBox="1"/>
          <p:nvPr/>
        </p:nvSpPr>
        <p:spPr>
          <a:xfrm>
            <a:off x="521207" y="2093976"/>
            <a:ext cx="2249426" cy="3004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700">
                <a:solidFill>
                  <a:srgbClr val="A1A1AA"/>
                </a:solidFill>
              </a:defRPr>
            </a:lvl1pPr>
          </a:lstStyle>
          <a:p>
            <a:pPr/>
            <a:r>
              <a:t>Engineers could finally delegate coding from the terminal — write, run, debug, and fix without switching contexts.</a:t>
            </a:r>
          </a:p>
        </p:txBody>
      </p:sp>
      <p:sp>
        <p:nvSpPr>
          <p:cNvPr id="36" name="Text 16"/>
          <p:cNvSpPr txBox="1"/>
          <p:nvPr/>
        </p:nvSpPr>
        <p:spPr>
          <a:xfrm>
            <a:off x="521207" y="2404399"/>
            <a:ext cx="2249426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800">
                <a:solidFill>
                  <a:srgbClr val="D97757"/>
                </a:solidFill>
              </a:defRPr>
            </a:lvl1pPr>
          </a:lstStyle>
          <a:p>
            <a:pPr/>
            <a:r>
              <a:t>Then something unexpected happened</a:t>
            </a:r>
          </a:p>
        </p:txBody>
      </p:sp>
      <p:sp>
        <p:nvSpPr>
          <p:cNvPr id="37" name="Text 17"/>
          <p:cNvSpPr txBox="1"/>
          <p:nvPr/>
        </p:nvSpPr>
        <p:spPr>
          <a:xfrm>
            <a:off x="521207" y="2584704"/>
            <a:ext cx="2249426" cy="4147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700">
                <a:solidFill>
                  <a:srgbClr val="A1A1AA"/>
                </a:solidFill>
              </a:defRPr>
            </a:lvl1pPr>
          </a:lstStyle>
          <a:p>
            <a:pPr/>
            <a:r>
              <a:t>Developers started using it for everything. Not just code — for doing things with folders, documents, emails, automations, or even… planning vacations</a:t>
            </a:r>
          </a:p>
        </p:txBody>
      </p:sp>
      <p:sp>
        <p:nvSpPr>
          <p:cNvPr id="38" name="Text 18"/>
          <p:cNvSpPr txBox="1"/>
          <p:nvPr/>
        </p:nvSpPr>
        <p:spPr>
          <a:xfrm>
            <a:off x="521207" y="2993135"/>
            <a:ext cx="2249426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800">
                <a:solidFill>
                  <a:srgbClr val="D97757"/>
                </a:solidFill>
              </a:defRPr>
            </a:lvl1pPr>
          </a:lstStyle>
          <a:p>
            <a:pPr/>
            <a:r>
              <a:t>It became an AI operator</a:t>
            </a:r>
          </a:p>
        </p:txBody>
      </p:sp>
      <p:sp>
        <p:nvSpPr>
          <p:cNvPr id="39" name="Text 19"/>
          <p:cNvSpPr txBox="1"/>
          <p:nvPr/>
        </p:nvSpPr>
        <p:spPr>
          <a:xfrm>
            <a:off x="521207" y="3152879"/>
            <a:ext cx="2249426" cy="300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700">
                <a:solidFill>
                  <a:srgbClr val="A1A1AA"/>
                </a:solidFill>
              </a:defRPr>
            </a:lvl1pPr>
          </a:lstStyle>
          <a:p>
            <a:pPr/>
            <a:r>
              <a:t>"Organize this folder." "Draft my standup update." "Summarize these logs and email the team."</a:t>
            </a:r>
          </a:p>
        </p:txBody>
      </p:sp>
      <p:sp>
        <p:nvSpPr>
          <p:cNvPr id="40" name="Shape 20"/>
          <p:cNvSpPr/>
          <p:nvPr/>
        </p:nvSpPr>
        <p:spPr>
          <a:xfrm>
            <a:off x="475487" y="3474720"/>
            <a:ext cx="2340866" cy="548641"/>
          </a:xfrm>
          <a:prstGeom prst="roundRect">
            <a:avLst>
              <a:gd name="adj" fmla="val 8333"/>
            </a:avLst>
          </a:prstGeom>
          <a:solidFill>
            <a:srgbClr val="141418"/>
          </a:solidFill>
          <a:ln>
            <a:solidFill>
              <a:srgbClr val="D9775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1" name="Shape 21"/>
          <p:cNvSpPr/>
          <p:nvPr/>
        </p:nvSpPr>
        <p:spPr>
          <a:xfrm>
            <a:off x="475487" y="3474720"/>
            <a:ext cx="27433" cy="548641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2" name="Text 22"/>
          <p:cNvSpPr txBox="1"/>
          <p:nvPr/>
        </p:nvSpPr>
        <p:spPr>
          <a:xfrm>
            <a:off x="612647" y="3587531"/>
            <a:ext cx="2121410" cy="323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i="1" sz="800">
                <a:solidFill>
                  <a:srgbClr val="D97757"/>
                </a:solidFill>
              </a:defRPr>
            </a:pPr>
            <a:r>
              <a:t>"I haven't manually moved a file in weeks."</a:t>
            </a:r>
          </a:p>
          <a:p>
            <a:pPr>
              <a:defRPr i="1" sz="800">
                <a:solidFill>
                  <a:srgbClr val="D97757"/>
                </a:solidFill>
              </a:defRPr>
            </a:pPr>
            <a:r>
              <a:t>— engineer using Claude Code</a:t>
            </a:r>
          </a:p>
        </p:txBody>
      </p:sp>
      <p:sp>
        <p:nvSpPr>
          <p:cNvPr id="43" name="Text 23"/>
          <p:cNvSpPr txBox="1"/>
          <p:nvPr/>
        </p:nvSpPr>
        <p:spPr>
          <a:xfrm>
            <a:off x="3054096" y="2301837"/>
            <a:ext cx="109729" cy="6449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2000">
                <a:solidFill>
                  <a:srgbClr val="52525B"/>
                </a:solidFill>
              </a:defRPr>
            </a:lvl1pPr>
          </a:lstStyle>
          <a:p>
            <a:pPr/>
            <a:r>
              <a:t>-&gt;</a:t>
            </a:r>
          </a:p>
        </p:txBody>
      </p:sp>
      <p:sp>
        <p:nvSpPr>
          <p:cNvPr id="44" name="Shape 24"/>
          <p:cNvSpPr/>
          <p:nvPr/>
        </p:nvSpPr>
        <p:spPr>
          <a:xfrm>
            <a:off x="3273552" y="1170432"/>
            <a:ext cx="2596897" cy="2907793"/>
          </a:xfrm>
          <a:prstGeom prst="rect">
            <a:avLst/>
          </a:prstGeom>
          <a:solidFill>
            <a:srgbClr val="18181B"/>
          </a:solidFill>
          <a:ln w="6350">
            <a:solidFill>
              <a:srgbClr val="35353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5" name="Shape 25"/>
          <p:cNvSpPr/>
          <p:nvPr/>
        </p:nvSpPr>
        <p:spPr>
          <a:xfrm>
            <a:off x="3273552" y="1170432"/>
            <a:ext cx="2596897" cy="54865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6" name="Text 26"/>
          <p:cNvSpPr txBox="1"/>
          <p:nvPr/>
        </p:nvSpPr>
        <p:spPr>
          <a:xfrm>
            <a:off x="3447288" y="1282735"/>
            <a:ext cx="2249425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800">
                <a:solidFill>
                  <a:srgbClr val="A855F7"/>
                </a:solidFill>
              </a:defRPr>
            </a:lvl1pPr>
          </a:lstStyle>
          <a:p>
            <a:pPr/>
            <a:r>
              <a:t>ACT 02</a:t>
            </a:r>
          </a:p>
        </p:txBody>
      </p:sp>
      <p:sp>
        <p:nvSpPr>
          <p:cNvPr id="47" name="Text 27"/>
          <p:cNvSpPr txBox="1"/>
          <p:nvPr/>
        </p:nvSpPr>
        <p:spPr>
          <a:xfrm>
            <a:off x="3447288" y="1523808"/>
            <a:ext cx="2340865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Everyone Else Was Locked Out</a:t>
            </a:r>
          </a:p>
        </p:txBody>
      </p:sp>
      <p:sp>
        <p:nvSpPr>
          <p:cNvPr id="48" name="Shape 28"/>
          <p:cNvSpPr/>
          <p:nvPr/>
        </p:nvSpPr>
        <p:spPr>
          <a:xfrm>
            <a:off x="3401567" y="1892807"/>
            <a:ext cx="2340866" cy="13717"/>
          </a:xfrm>
          <a:prstGeom prst="rect">
            <a:avLst/>
          </a:prstGeom>
          <a:solidFill>
            <a:srgbClr val="35353F"/>
          </a:solidFill>
          <a:ln w="12700">
            <a:solidFill>
              <a:srgbClr val="35353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9" name="Text 29"/>
          <p:cNvSpPr txBox="1"/>
          <p:nvPr/>
        </p:nvSpPr>
        <p:spPr>
          <a:xfrm>
            <a:off x="3447288" y="1913671"/>
            <a:ext cx="2249425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800">
                <a:solidFill>
                  <a:srgbClr val="A855F7"/>
                </a:solidFill>
              </a:defRPr>
            </a:lvl1pPr>
          </a:lstStyle>
          <a:p>
            <a:pPr/>
            <a:r>
              <a:t>Non-devs saw what was happening</a:t>
            </a:r>
          </a:p>
        </p:txBody>
      </p:sp>
      <p:sp>
        <p:nvSpPr>
          <p:cNvPr id="50" name="Text 30"/>
          <p:cNvSpPr txBox="1"/>
          <p:nvPr/>
        </p:nvSpPr>
        <p:spPr>
          <a:xfrm>
            <a:off x="3447288" y="2079529"/>
            <a:ext cx="2249425" cy="3004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700">
                <a:solidFill>
                  <a:srgbClr val="A1A1AA"/>
                </a:solidFill>
              </a:defRPr>
            </a:lvl1pPr>
          </a:lstStyle>
          <a:p>
            <a:pPr/>
            <a:r>
              <a:t>Teammates, managers, and coordinators noticed. "Can you set that up for me?" became a daily request.</a:t>
            </a:r>
          </a:p>
        </p:txBody>
      </p:sp>
      <p:sp>
        <p:nvSpPr>
          <p:cNvPr id="51" name="Text 31"/>
          <p:cNvSpPr txBox="1"/>
          <p:nvPr/>
        </p:nvSpPr>
        <p:spPr>
          <a:xfrm>
            <a:off x="3447288" y="2435133"/>
            <a:ext cx="2249425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800">
                <a:solidFill>
                  <a:srgbClr val="A855F7"/>
                </a:solidFill>
              </a:defRPr>
            </a:lvl1pPr>
          </a:lstStyle>
          <a:p>
            <a:pPr/>
            <a:r>
              <a:t>The wall was immediate</a:t>
            </a:r>
          </a:p>
        </p:txBody>
      </p:sp>
      <p:sp>
        <p:nvSpPr>
          <p:cNvPr id="52" name="Text 32"/>
          <p:cNvSpPr txBox="1"/>
          <p:nvPr/>
        </p:nvSpPr>
        <p:spPr>
          <a:xfrm>
            <a:off x="3447288" y="2584704"/>
            <a:ext cx="2249425" cy="4147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700">
                <a:solidFill>
                  <a:srgbClr val="A1A1AA"/>
                </a:solidFill>
              </a:defRPr>
            </a:lvl1pPr>
          </a:lstStyle>
          <a:p>
            <a:pPr/>
            <a:r>
              <a:t>Claude Code requires a terminal, bash commands, git, and code knowledge. Most professionals hit a dead end in under 30 seconds.</a:t>
            </a:r>
          </a:p>
        </p:txBody>
      </p:sp>
      <p:sp>
        <p:nvSpPr>
          <p:cNvPr id="53" name="Text 33"/>
          <p:cNvSpPr txBox="1"/>
          <p:nvPr/>
        </p:nvSpPr>
        <p:spPr>
          <a:xfrm>
            <a:off x="3441319" y="2956761"/>
            <a:ext cx="2249425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800">
                <a:solidFill>
                  <a:srgbClr val="A855F7"/>
                </a:solidFill>
              </a:defRPr>
            </a:lvl1pPr>
          </a:lstStyle>
          <a:p>
            <a:pPr/>
            <a:r>
              <a:t>The gap was uncomfortable</a:t>
            </a:r>
          </a:p>
        </p:txBody>
      </p:sp>
      <p:sp>
        <p:nvSpPr>
          <p:cNvPr id="54" name="Text 34"/>
          <p:cNvSpPr txBox="1"/>
          <p:nvPr/>
        </p:nvSpPr>
        <p:spPr>
          <a:xfrm>
            <a:off x="3442906" y="3112021"/>
            <a:ext cx="2304289" cy="3004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700">
                <a:solidFill>
                  <a:srgbClr val="A1A1AA"/>
                </a:solidFill>
              </a:defRPr>
            </a:lvl1pPr>
          </a:lstStyle>
          <a:p>
            <a:pPr/>
            <a:r>
              <a:t>The most powerful AI tool in the building was locked behind a $ prompt that most people had never seen before.</a:t>
            </a:r>
          </a:p>
        </p:txBody>
      </p:sp>
      <p:sp>
        <p:nvSpPr>
          <p:cNvPr id="55" name="Shape 35"/>
          <p:cNvSpPr/>
          <p:nvPr/>
        </p:nvSpPr>
        <p:spPr>
          <a:xfrm>
            <a:off x="3401567" y="3474720"/>
            <a:ext cx="2340866" cy="548641"/>
          </a:xfrm>
          <a:prstGeom prst="roundRect">
            <a:avLst>
              <a:gd name="adj" fmla="val 8333"/>
            </a:avLst>
          </a:prstGeom>
          <a:solidFill>
            <a:srgbClr val="141418"/>
          </a:solidFill>
          <a:ln>
            <a:solidFill>
              <a:srgbClr val="A855F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6" name="Shape 36"/>
          <p:cNvSpPr/>
          <p:nvPr/>
        </p:nvSpPr>
        <p:spPr>
          <a:xfrm>
            <a:off x="3401567" y="3474720"/>
            <a:ext cx="27433" cy="548641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7" name="Text 37"/>
          <p:cNvSpPr txBox="1"/>
          <p:nvPr/>
        </p:nvSpPr>
        <p:spPr>
          <a:xfrm>
            <a:off x="3538728" y="3524031"/>
            <a:ext cx="2121409" cy="450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i="1" sz="800">
                <a:solidFill>
                  <a:srgbClr val="A855F7"/>
                </a:solidFill>
              </a:defRPr>
            </a:pPr>
            <a:r>
              <a:t>"I just want it to DO the thing.</a:t>
            </a:r>
          </a:p>
          <a:p>
            <a:pPr>
              <a:defRPr i="1" sz="800">
                <a:solidFill>
                  <a:srgbClr val="A855F7"/>
                </a:solidFill>
              </a:defRPr>
            </a:pPr>
            <a:r>
              <a:t>Why do I need to learn bash?"</a:t>
            </a:r>
          </a:p>
          <a:p>
            <a:pPr>
              <a:defRPr i="1" sz="800">
                <a:solidFill>
                  <a:srgbClr val="A855F7"/>
                </a:solidFill>
              </a:defRPr>
            </a:pPr>
            <a:r>
              <a:t>— literally everyone else</a:t>
            </a:r>
          </a:p>
        </p:txBody>
      </p:sp>
      <p:sp>
        <p:nvSpPr>
          <p:cNvPr id="58" name="Text 38"/>
          <p:cNvSpPr txBox="1"/>
          <p:nvPr/>
        </p:nvSpPr>
        <p:spPr>
          <a:xfrm>
            <a:off x="5980176" y="2301837"/>
            <a:ext cx="109729" cy="6449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2000">
                <a:solidFill>
                  <a:srgbClr val="52525B"/>
                </a:solidFill>
              </a:defRPr>
            </a:lvl1pPr>
          </a:lstStyle>
          <a:p>
            <a:pPr/>
            <a:r>
              <a:t>-&gt;</a:t>
            </a:r>
          </a:p>
        </p:txBody>
      </p:sp>
      <p:sp>
        <p:nvSpPr>
          <p:cNvPr id="59" name="Shape 39"/>
          <p:cNvSpPr/>
          <p:nvPr/>
        </p:nvSpPr>
        <p:spPr>
          <a:xfrm>
            <a:off x="6199632" y="1170432"/>
            <a:ext cx="2596896" cy="2907793"/>
          </a:xfrm>
          <a:prstGeom prst="rect">
            <a:avLst/>
          </a:prstGeom>
          <a:solidFill>
            <a:srgbClr val="18181B"/>
          </a:solidFill>
          <a:ln w="6350">
            <a:solidFill>
              <a:srgbClr val="35353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0" name="Shape 40"/>
          <p:cNvSpPr/>
          <p:nvPr/>
        </p:nvSpPr>
        <p:spPr>
          <a:xfrm>
            <a:off x="6199632" y="1170432"/>
            <a:ext cx="2596896" cy="54865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1" name="Text 41"/>
          <p:cNvSpPr txBox="1"/>
          <p:nvPr/>
        </p:nvSpPr>
        <p:spPr>
          <a:xfrm>
            <a:off x="6373367" y="1282735"/>
            <a:ext cx="2249426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800">
                <a:solidFill>
                  <a:srgbClr val="22C55E"/>
                </a:solidFill>
              </a:defRPr>
            </a:lvl1pPr>
          </a:lstStyle>
          <a:p>
            <a:pPr/>
            <a:r>
              <a:t>ACT 03</a:t>
            </a:r>
          </a:p>
        </p:txBody>
      </p:sp>
      <p:sp>
        <p:nvSpPr>
          <p:cNvPr id="62" name="Text 42"/>
          <p:cNvSpPr txBox="1"/>
          <p:nvPr/>
        </p:nvSpPr>
        <p:spPr>
          <a:xfrm>
            <a:off x="6373367" y="1523808"/>
            <a:ext cx="2249426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Cowork Was the Answer</a:t>
            </a:r>
          </a:p>
        </p:txBody>
      </p:sp>
      <p:sp>
        <p:nvSpPr>
          <p:cNvPr id="63" name="Shape 43"/>
          <p:cNvSpPr/>
          <p:nvPr/>
        </p:nvSpPr>
        <p:spPr>
          <a:xfrm>
            <a:off x="6327647" y="1892807"/>
            <a:ext cx="2340865" cy="13717"/>
          </a:xfrm>
          <a:prstGeom prst="rect">
            <a:avLst/>
          </a:prstGeom>
          <a:solidFill>
            <a:srgbClr val="35353F"/>
          </a:solidFill>
          <a:ln w="12700">
            <a:solidFill>
              <a:srgbClr val="35353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4" name="Text 44"/>
          <p:cNvSpPr txBox="1"/>
          <p:nvPr/>
        </p:nvSpPr>
        <p:spPr>
          <a:xfrm>
            <a:off x="6373367" y="1913671"/>
            <a:ext cx="2249426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800">
                <a:solidFill>
                  <a:srgbClr val="22C55E"/>
                </a:solidFill>
              </a:defRPr>
            </a:lvl1pPr>
          </a:lstStyle>
          <a:p>
            <a:pPr/>
            <a:r>
              <a:t>One question changed everything</a:t>
            </a:r>
          </a:p>
        </p:txBody>
      </p:sp>
      <p:sp>
        <p:nvSpPr>
          <p:cNvPr id="65" name="Text 45"/>
          <p:cNvSpPr txBox="1"/>
          <p:nvPr/>
        </p:nvSpPr>
        <p:spPr>
          <a:xfrm>
            <a:off x="6373367" y="2093976"/>
            <a:ext cx="2249426" cy="3004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700">
                <a:solidFill>
                  <a:srgbClr val="A1A1AA"/>
                </a:solidFill>
              </a:defRPr>
            </a:lvl1pPr>
          </a:lstStyle>
          <a:p>
            <a:pPr/>
            <a:r>
              <a:t>What if the same execution power existed — with no terminal, no commands, no code?</a:t>
            </a:r>
          </a:p>
        </p:txBody>
      </p:sp>
      <p:sp>
        <p:nvSpPr>
          <p:cNvPr id="66" name="Text 46"/>
          <p:cNvSpPr txBox="1"/>
          <p:nvPr/>
        </p:nvSpPr>
        <p:spPr>
          <a:xfrm>
            <a:off x="6373367" y="2404399"/>
            <a:ext cx="2249426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800">
                <a:solidFill>
                  <a:srgbClr val="22C55E"/>
                </a:solidFill>
              </a:defRPr>
            </a:lvl1pPr>
          </a:lstStyle>
          <a:p>
            <a:pPr/>
            <a:r>
              <a:t>Same Claude. Different front door.</a:t>
            </a:r>
          </a:p>
        </p:txBody>
      </p:sp>
      <p:sp>
        <p:nvSpPr>
          <p:cNvPr id="67" name="Text 47"/>
          <p:cNvSpPr txBox="1"/>
          <p:nvPr/>
        </p:nvSpPr>
        <p:spPr>
          <a:xfrm>
            <a:off x="6373367" y="2584704"/>
            <a:ext cx="2249426" cy="3004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700">
                <a:solidFill>
                  <a:srgbClr val="A1A1AA"/>
                </a:solidFill>
              </a:defRPr>
            </a:lvl1pPr>
          </a:lstStyle>
          <a:p>
            <a:pPr/>
            <a:r>
              <a:t>Cowork is the desktop interface built for professionals who work with files and apps, not codebases.</a:t>
            </a:r>
          </a:p>
        </p:txBody>
      </p:sp>
      <p:sp>
        <p:nvSpPr>
          <p:cNvPr id="68" name="Text 48"/>
          <p:cNvSpPr txBox="1"/>
          <p:nvPr/>
        </p:nvSpPr>
        <p:spPr>
          <a:xfrm>
            <a:off x="6373367" y="2895127"/>
            <a:ext cx="2249426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800">
                <a:solidFill>
                  <a:srgbClr val="22C55E"/>
                </a:solidFill>
              </a:defRPr>
            </a:lvl1pPr>
          </a:lstStyle>
          <a:p>
            <a:pPr/>
            <a:r>
              <a:t>The problem solvers finally had a tool</a:t>
            </a:r>
          </a:p>
        </p:txBody>
      </p:sp>
      <p:sp>
        <p:nvSpPr>
          <p:cNvPr id="69" name="Text 49"/>
          <p:cNvSpPr txBox="1"/>
          <p:nvPr/>
        </p:nvSpPr>
        <p:spPr>
          <a:xfrm>
            <a:off x="6373367" y="3075432"/>
            <a:ext cx="2249426" cy="4147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700">
                <a:solidFill>
                  <a:srgbClr val="A1A1AA"/>
                </a:solidFill>
              </a:defRPr>
            </a:lvl1pPr>
          </a:lstStyle>
          <a:p>
            <a:pPr/>
            <a:r>
              <a:t>Marketing managers. Course creators. Consultants. Business owners. The people who needed it most — finally included.</a:t>
            </a:r>
          </a:p>
        </p:txBody>
      </p:sp>
      <p:sp>
        <p:nvSpPr>
          <p:cNvPr id="70" name="Shape 50"/>
          <p:cNvSpPr/>
          <p:nvPr/>
        </p:nvSpPr>
        <p:spPr>
          <a:xfrm>
            <a:off x="6327647" y="3474720"/>
            <a:ext cx="2340865" cy="548641"/>
          </a:xfrm>
          <a:prstGeom prst="roundRect">
            <a:avLst>
              <a:gd name="adj" fmla="val 8333"/>
            </a:avLst>
          </a:prstGeom>
          <a:solidFill>
            <a:srgbClr val="141418"/>
          </a:solidFill>
          <a:ln>
            <a:solidFill>
              <a:srgbClr val="22C55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1" name="Shape 51"/>
          <p:cNvSpPr/>
          <p:nvPr/>
        </p:nvSpPr>
        <p:spPr>
          <a:xfrm>
            <a:off x="6327647" y="3474720"/>
            <a:ext cx="27433" cy="548641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2" name="Text 52"/>
          <p:cNvSpPr txBox="1"/>
          <p:nvPr/>
        </p:nvSpPr>
        <p:spPr>
          <a:xfrm>
            <a:off x="6464808" y="3587531"/>
            <a:ext cx="2121409" cy="323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i="1" sz="800">
                <a:solidFill>
                  <a:srgbClr val="22C55E"/>
                </a:solidFill>
              </a:defRPr>
            </a:pPr>
            <a:r>
              <a:t>"Finally. It just does it."</a:t>
            </a:r>
          </a:p>
          <a:p>
            <a:pPr>
              <a:defRPr i="1" sz="800">
                <a:solidFill>
                  <a:srgbClr val="22C55E"/>
                </a:solidFill>
              </a:defRPr>
            </a:pPr>
            <a:r>
              <a:t>— Cowork user, first session</a:t>
            </a:r>
          </a:p>
        </p:txBody>
      </p:sp>
      <p:sp>
        <p:nvSpPr>
          <p:cNvPr id="73" name="Shape 53"/>
          <p:cNvSpPr/>
          <p:nvPr/>
        </p:nvSpPr>
        <p:spPr>
          <a:xfrm>
            <a:off x="347471" y="4151376"/>
            <a:ext cx="8449058" cy="836676"/>
          </a:xfrm>
          <a:prstGeom prst="rect">
            <a:avLst/>
          </a:prstGeom>
          <a:solidFill>
            <a:srgbClr val="141418"/>
          </a:solidFill>
          <a:ln w="6350">
            <a:solidFill>
              <a:srgbClr val="35353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4" name="Shape 54"/>
          <p:cNvSpPr/>
          <p:nvPr/>
        </p:nvSpPr>
        <p:spPr>
          <a:xfrm>
            <a:off x="347472" y="4151376"/>
            <a:ext cx="36577" cy="83667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5" name="Text 55"/>
          <p:cNvSpPr txBox="1"/>
          <p:nvPr/>
        </p:nvSpPr>
        <p:spPr>
          <a:xfrm>
            <a:off x="557783" y="4199672"/>
            <a:ext cx="1737362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800">
                <a:solidFill>
                  <a:srgbClr val="D97757"/>
                </a:solidFill>
              </a:defRPr>
            </a:lvl1pPr>
          </a:lstStyle>
          <a:p>
            <a:pPr/>
            <a:r>
              <a:t>THE REAL REASON</a:t>
            </a:r>
          </a:p>
        </p:txBody>
      </p:sp>
      <p:sp>
        <p:nvSpPr>
          <p:cNvPr id="76" name="Text 56"/>
          <p:cNvSpPr txBox="1"/>
          <p:nvPr/>
        </p:nvSpPr>
        <p:spPr>
          <a:xfrm>
            <a:off x="557784" y="4389120"/>
            <a:ext cx="8119872" cy="3936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000">
                <a:solidFill>
                  <a:srgbClr val="A1A1AA"/>
                </a:solidFill>
              </a:defRPr>
            </a:pPr>
            <a:r>
              <a:t>Cowork exists because </a:t>
            </a:r>
            <a:r>
              <a:rPr b="1">
                <a:solidFill>
                  <a:srgbClr val="FFFFFF"/>
                </a:solidFill>
              </a:rPr>
              <a:t>the desire to have AI execute tasks isn't a developer trait</a:t>
            </a:r>
            <a:r>
              <a:t> — it's a human one. The only thing that was missing was a tool built for </a:t>
            </a:r>
            <a:r>
              <a:rPr b="1">
                <a:solidFill>
                  <a:srgbClr val="D97757"/>
                </a:solidFill>
              </a:rPr>
              <a:t>the rest of us.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